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17995"/>
            <a:ext cx="9564279" cy="1109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Masked Autoencoders Are Scalable Vision</a:t>
            </a:r>
            <a:br/>
            <a:pPr algn="l" indent="0" marL="0">
              <a:lnSpc>
                <a:spcPts val="4368"/>
              </a:lnSpc>
              <a:buNone/>
            </a:pPr>
            <a:r>
              <a:rPr lang="en-US" sz="39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Learners</a:t>
            </a:r>
            <a:endParaRPr lang="en-US" sz="39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033861"/>
            <a:ext cx="6484132" cy="55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Kaiming He, Xinlei Chen, Saining Xie, Yanghao Li, Piotr Dollár, Ross Girshick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AI Research, CVPR 2022</a:t>
            </a:r>
            <a:endParaRPr lang="en-US" sz="14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790545"/>
            <a:ext cx="8085653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ImageNet validation image with 75 percent of the patches removed, the MAE reconstruction, and the original. Figure 10 in the paper.</a:t>
            </a:r>
            <a:endParaRPr lang="en-US" sz="1013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6185166"/>
            <a:ext cx="4559272" cy="2461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38"/>
              </a:lnSpc>
              <a:buNone/>
            </a:pPr>
            <a:r>
              <a:rPr lang="en-US" sz="127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Ertugrul Senturk</a:t>
            </a:r>
            <a:pPr algn="l" indent="0" marL="0">
              <a:lnSpc>
                <a:spcPts val="1938"/>
              </a:lnSpc>
              <a:buNone/>
            </a:pPr>
            <a:r>
              <a:rPr lang="en-US" sz="12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University of Rochester · September 2026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6073188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problem, and an idea from language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8304"/>
            <a:ext cx="2653605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36"/>
              </a:lnSpc>
              <a:buNone/>
            </a:pPr>
            <a:r>
              <a:rPr lang="en-US" sz="18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Labels are the bottleneck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285917"/>
            <a:ext cx="5272659" cy="372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square is 1.28 million labeled images. Teal: ImageNet-1K, public. Gray: JFT-300M,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Google-internal, used to pretrain ViT.</a:t>
            </a:r>
            <a:endParaRPr lang="en-US" sz="1013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68966"/>
            <a:ext cx="5375898" cy="144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ViT-Large is big enough to memorize ImageNet. Trained</a:t>
            </a:r>
            <a:br/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scratch on it, it overfits and lands below a ResNet. It</a:t>
            </a:r>
            <a:br/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works well after pretraining on JFT-300M, which nobody</a:t>
            </a:r>
            <a:br/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 has. The question is whether ImageNet alone can be</a:t>
            </a:r>
            <a:br/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enough, without any extra labels.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81750" y="1148304"/>
            <a:ext cx="3326749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36"/>
              </a:lnSpc>
              <a:buNone/>
            </a:pPr>
            <a:r>
              <a:rPr lang="en-US" sz="18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Hide part of the data, predict it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381750" y="3267700"/>
            <a:ext cx="5350514" cy="1158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writes a label for a hidden word. Predicting it turns</a:t>
            </a:r>
            <a:br/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to require understanding the sentence, and that</a:t>
            </a:r>
            <a:br/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transfers to every downstream task. GPT and</a:t>
            </a:r>
            <a:br/>
            <a:pPr algn="l" indent="0" marL="0">
              <a:lnSpc>
                <a:spcPts val="228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 scale to hundreds of billions of parameters this way.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17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5163538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hide 75 percent of the image?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367302"/>
            <a:ext cx="1558838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network is given</a:t>
            </a:r>
            <a:endParaRPr lang="en-US" sz="1013" dirty="0"/>
          </a:p>
        </p:txBody>
      </p:sp>
      <p:sp>
        <p:nvSpPr>
          <p:cNvPr id="4" name="Text 2"/>
          <p:cNvSpPr txBox="1"/>
          <p:nvPr/>
        </p:nvSpPr>
        <p:spPr>
          <a:xfrm>
            <a:off x="4057650" y="4367302"/>
            <a:ext cx="2993505" cy="372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averaging the visible neighbors recovers, no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involved</a:t>
            </a:r>
            <a:endParaRPr lang="en-US" sz="1013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063817"/>
            <a:ext cx="3209115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Masking ratio 75 percent, patches chosen at random.</a:t>
            </a:r>
            <a:endParaRPr lang="en-US" sz="1013" dirty="0"/>
          </a:p>
        </p:txBody>
      </p:sp>
      <p:sp>
        <p:nvSpPr>
          <p:cNvPr id="6" name="Text 4"/>
          <p:cNvSpPr txBox="1"/>
          <p:nvPr/>
        </p:nvSpPr>
        <p:spPr>
          <a:xfrm>
            <a:off x="7543800" y="1141637"/>
            <a:ext cx="4032552" cy="1375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 are redundant. At BERT's 15 percent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hidden patch has visible neighbors, and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simply averaging them already gives the picture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back. A network trained on that task learns to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average.</a:t>
            </a:r>
            <a:endParaRPr lang="en-US" sz="1425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69209"/>
            <a:ext cx="4012121" cy="16504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75 percent averaging gives a smear. To fill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gaps you have to know what a train looks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like. That is the paper's argument for masking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image, and its explanation for why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work with 20 to 50 percent masking got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features.</a:t>
            </a:r>
            <a:endParaRPr lang="en-US" sz="1425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4535061"/>
            <a:ext cx="823008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masking ratio</a:t>
            </a:r>
            <a:endParaRPr lang="en-US" sz="975" dirty="0"/>
          </a:p>
        </p:txBody>
      </p:sp>
      <p:sp>
        <p:nvSpPr>
          <p:cNvPr id="9" name="Text 7"/>
          <p:cNvSpPr txBox="1"/>
          <p:nvPr/>
        </p:nvSpPr>
        <p:spPr>
          <a:xfrm>
            <a:off x="7543800" y="4695081"/>
            <a:ext cx="526137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</a:t>
            </a:r>
            <a:pPr algn="l" indent="0" marL="0">
              <a:lnSpc>
                <a:spcPts val="2475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9648825" y="4535061"/>
            <a:ext cx="1532061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patches the encoder sees</a:t>
            </a:r>
            <a:endParaRPr lang="en-US" sz="975" dirty="0"/>
          </a:p>
        </p:txBody>
      </p:sp>
      <p:sp>
        <p:nvSpPr>
          <p:cNvPr id="11" name="Text 9"/>
          <p:cNvSpPr txBox="1"/>
          <p:nvPr/>
        </p:nvSpPr>
        <p:spPr>
          <a:xfrm>
            <a:off x="9648825" y="4695081"/>
            <a:ext cx="80722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pPr algn="l" indent="0" marL="0">
              <a:lnSpc>
                <a:spcPts val="2475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196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543800" y="5182761"/>
            <a:ext cx="1581745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cost vs. full image</a:t>
            </a:r>
            <a:endParaRPr lang="en-US" sz="975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5342781"/>
            <a:ext cx="1194947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pPr algn="l" indent="0" marL="0">
              <a:lnSpc>
                <a:spcPts val="2475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FLOPs</a:t>
            </a:r>
            <a:endParaRPr lang="en-US" sz="2250" dirty="0"/>
          </a:p>
        </p:txBody>
      </p:sp>
      <p:sp>
        <p:nvSpPr>
          <p:cNvPr id="14" name="Text 12"/>
          <p:cNvSpPr txBox="1"/>
          <p:nvPr/>
        </p:nvSpPr>
        <p:spPr>
          <a:xfrm>
            <a:off x="9648825" y="5182761"/>
            <a:ext cx="1832336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patches with no visible</a:t>
            </a:r>
            <a:br/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neighbor</a:t>
            </a:r>
            <a:endParaRPr lang="en-US" sz="975" dirty="0"/>
          </a:p>
        </p:txBody>
      </p:sp>
      <p:sp>
        <p:nvSpPr>
          <p:cNvPr id="15" name="Text 13"/>
          <p:cNvSpPr txBox="1"/>
          <p:nvPr/>
        </p:nvSpPr>
        <p:spPr>
          <a:xfrm>
            <a:off x="9648825" y="5485656"/>
            <a:ext cx="80722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pPr algn="l" indent="0" marL="0">
              <a:lnSpc>
                <a:spcPts val="2475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147</a:t>
            </a:r>
            <a:endParaRPr lang="en-US" sz="2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17</a:t>
            </a:r>
            <a:endParaRPr lang="en-US" sz="9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190353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Architecture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1637"/>
            <a:ext cx="4844070" cy="825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image is split into a 14 × 14 grid, 196 patches. 147 of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 are removed at random. The encoder, a normal ViT,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only the 49 that remain.</a:t>
            </a:r>
            <a:endParaRPr lang="en-US" sz="14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19140"/>
            <a:ext cx="4974396" cy="825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decoder gets the encoder output plus a mask token at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the 147 missing positions, and predicts the missing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pixels. The pixel error is the only training signal.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096643"/>
            <a:ext cx="4720090" cy="55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pretraining the decoder is dropped. The encoder is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on full images for recognition.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799112"/>
            <a:ext cx="4963716" cy="825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choices make this work: the encoder never sees a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token, which keeps it cheap, and the masking ratio is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high, which keeps the task hard.</a:t>
            </a:r>
            <a:endParaRPr lang="en-US" sz="1425" dirty="0"/>
          </a:p>
        </p:txBody>
      </p:sp>
      <p:sp>
        <p:nvSpPr>
          <p:cNvPr id="7" name="Text 5"/>
          <p:cNvSpPr txBox="1"/>
          <p:nvPr/>
        </p:nvSpPr>
        <p:spPr>
          <a:xfrm>
            <a:off x="6057900" y="4486573"/>
            <a:ext cx="148624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encoded visible patch</a:t>
            </a:r>
            <a:endParaRPr lang="en-US" sz="1125" dirty="0"/>
          </a:p>
        </p:txBody>
      </p:sp>
      <p:sp>
        <p:nvSpPr>
          <p:cNvPr id="8" name="Text 6"/>
          <p:cNvSpPr txBox="1"/>
          <p:nvPr/>
        </p:nvSpPr>
        <p:spPr>
          <a:xfrm>
            <a:off x="7908280" y="4486573"/>
            <a:ext cx="81697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token</a:t>
            </a:r>
            <a:endParaRPr lang="en-US" sz="1125" dirty="0"/>
          </a:p>
        </p:txBody>
      </p:sp>
      <p:sp>
        <p:nvSpPr>
          <p:cNvPr id="9" name="Text 7"/>
          <p:cNvSpPr txBox="1"/>
          <p:nvPr/>
        </p:nvSpPr>
        <p:spPr>
          <a:xfrm>
            <a:off x="9115127" y="4486573"/>
            <a:ext cx="13622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reconstructed patch</a:t>
            </a:r>
            <a:endParaRPr lang="en-US" sz="1125" dirty="0"/>
          </a:p>
        </p:txBody>
      </p:sp>
      <p:sp>
        <p:nvSpPr>
          <p:cNvPr id="10" name="Text 8"/>
          <p:cNvSpPr txBox="1"/>
          <p:nvPr/>
        </p:nvSpPr>
        <p:spPr>
          <a:xfrm>
            <a:off x="5829300" y="4745772"/>
            <a:ext cx="4782467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in the paper. These three colors are used the same way on every slide.</a:t>
            </a:r>
            <a:endParaRPr lang="en-US" sz="1013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17</a:t>
            </a:r>
            <a:endParaRPr lang="en-US" sz="9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3199519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 and decoder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8304"/>
            <a:ext cx="4764203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36"/>
              </a:lnSpc>
              <a:buNone/>
            </a:pPr>
            <a:r>
              <a:rPr lang="en-US" sz="180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Encoder: the large ViT, 24 blocks, width 1024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84252"/>
            <a:ext cx="5403449" cy="110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49 visible patches go in, each with its positional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embedding. Attention compares every token with every other, so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cost grows with the square of the sequence length. A quarter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tokens costs much less than a quarter of the compute.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1148304"/>
            <a:ext cx="4981206" cy="6949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36"/>
              </a:lnSpc>
              <a:buNone/>
            </a:pPr>
            <a:r>
              <a:rPr lang="en-US" sz="1800" dirty="0">
                <a:solidFill>
                  <a:srgbClr val="C4503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Decoder: 8 blocks, width 512, under 10% of the</a:t>
            </a:r>
            <a:br/>
            <a:pPr algn="l" indent="0" marL="0">
              <a:lnSpc>
                <a:spcPts val="2736"/>
              </a:lnSpc>
              <a:buNone/>
            </a:pPr>
            <a:r>
              <a:rPr lang="en-US" sz="1800" dirty="0">
                <a:solidFill>
                  <a:srgbClr val="C4503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encoder's compute per token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5550" y="1931616"/>
            <a:ext cx="5340608" cy="110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turns the encoder output into pixels. If it were large it could do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understanding itself and the encoder could stay lazy. Kept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it pushes the work into the encoder, which is the part we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keep.</a:t>
            </a:r>
            <a:endParaRPr lang="en-US" sz="142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17</a:t>
            </a:r>
            <a:endParaRPr lang="en-US" sz="9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909983"/>
            <a:ext cx="2444496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image as 4 × 4 patches, for illustration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1181100" y="4465862"/>
            <a:ext cx="9369409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patch becomes a token: a linear projection plus a positional embedding. 16 patches shown instead of 196.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1181100" y="4465862"/>
            <a:ext cx="3268861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tokens form a list, in natural order.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1181100" y="4465862"/>
            <a:ext cx="4751046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Shuffle the list randomly and remember the permutation.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1181100" y="4465862"/>
            <a:ext cx="9071610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last 75 percent. The first quarter of a random permutation is a uniform sample without replacement.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3858958" y="2512665"/>
            <a:ext cx="174993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encoder, a standard ViT</a:t>
            </a:r>
            <a:endParaRPr lang="en-US" sz="11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1181100" y="4465862"/>
            <a:ext cx="7610165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what is left. Four times fewer tokens, roughly sixteen times less attention compute.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1181100" y="4465862"/>
            <a:ext cx="6763976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 mask tokens, all copies of one learned vector, to get the full length back.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1181100" y="4465862"/>
            <a:ext cx="8925651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Unshuffle with the inverse permutation. Every token is back at its true position. Add positional embeddings.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5655201" y="1826865"/>
            <a:ext cx="67204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C450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1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1181100" y="4465862"/>
            <a:ext cx="9344025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decoder predicts a patch of pixels for every position. The loss is taken only on the masked ones, in salmon.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42700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Implementation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7686675" y="2481233"/>
            <a:ext cx="1223891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reconstructed image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1181100" y="4465862"/>
            <a:ext cx="2045160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Reshape into an image.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4508349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Reconstruction target and loss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1637"/>
            <a:ext cx="5743039" cy="110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decoder's last layer outputs 16 × 16 × 3 values per token, which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reshape into an image. The loss is the mean squared error against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original, computed on the masked patches only. Computing it on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patches costs about half a point of accuracy.</a:t>
            </a:r>
            <a:endParaRPr lang="en-US" sz="14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94174"/>
            <a:ext cx="5120973" cy="55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Normalizing each target patch by its own mean and standard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deviation gives the best results in the paper.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096643"/>
            <a:ext cx="5786378" cy="110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Reconstructions are blurry, since squared error rewards the average,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they are structurally right. They stay plausible on COCO images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never saw, which is the first sign that the encoder learned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 general.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6686550" y="5605552"/>
            <a:ext cx="4896231" cy="5593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at 75 percent: two ImageNet validation images (Figure 10) and a COCO image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(Figure 3). Visible patches look worse in the output because no loss is applied to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them; the authors show the raw output on purpose.</a:t>
            </a:r>
            <a:endParaRPr lang="en-US" sz="1013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17</a:t>
            </a:r>
            <a:endParaRPr lang="en-US" sz="9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4278809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Pretraining, then fine-tuning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7733"/>
            <a:ext cx="470306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· 1.28 million ImageNet images · labels not used · 800 to 1600 epochs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80752" y="2488853"/>
            <a:ext cx="85769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masked</a:t>
            </a:r>
            <a:endParaRPr lang="en-US" sz="938" dirty="0"/>
          </a:p>
        </p:txBody>
      </p:sp>
      <p:sp>
        <p:nvSpPr>
          <p:cNvPr id="5" name="Text 3"/>
          <p:cNvSpPr txBox="1"/>
          <p:nvPr/>
        </p:nvSpPr>
        <p:spPr>
          <a:xfrm>
            <a:off x="2732770" y="1696283"/>
            <a:ext cx="87811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</a:t>
            </a:r>
            <a:endParaRPr lang="en-US" sz="1575" dirty="0"/>
          </a:p>
        </p:txBody>
      </p:sp>
      <p:sp>
        <p:nvSpPr>
          <p:cNvPr id="6" name="Text 4"/>
          <p:cNvSpPr txBox="1"/>
          <p:nvPr/>
        </p:nvSpPr>
        <p:spPr>
          <a:xfrm>
            <a:off x="2838051" y="1981914"/>
            <a:ext cx="66754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ViT</a:t>
            </a:r>
            <a:endParaRPr lang="en-US" sz="1013" dirty="0"/>
          </a:p>
        </p:txBody>
      </p:sp>
      <p:sp>
        <p:nvSpPr>
          <p:cNvPr id="7" name="Text 5"/>
          <p:cNvSpPr txBox="1"/>
          <p:nvPr/>
        </p:nvSpPr>
        <p:spPr>
          <a:xfrm>
            <a:off x="4682186" y="1696283"/>
            <a:ext cx="884378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C4503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decoder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4812536" y="1981914"/>
            <a:ext cx="62382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blocks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6455307" y="2488853"/>
            <a:ext cx="67188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</a:t>
            </a:r>
            <a:endParaRPr lang="en-US" sz="938" dirty="0"/>
          </a:p>
        </p:txBody>
      </p:sp>
      <p:sp>
        <p:nvSpPr>
          <p:cNvPr id="10" name="Text 8"/>
          <p:cNvSpPr txBox="1"/>
          <p:nvPr/>
        </p:nvSpPr>
        <p:spPr>
          <a:xfrm>
            <a:off x="7467600" y="1560641"/>
            <a:ext cx="2056924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error against the original,</a:t>
            </a:r>
            <a:br/>
            <a:pPr algn="l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patches only</a:t>
            </a:r>
            <a:endParaRPr lang="en-US" sz="1013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1181100" y="4465862"/>
            <a:ext cx="10236648" cy="55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Pretraining. Mask 75 percent, encode the visible patches, predict the missing pixels, take the squared error on the masked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patches. Repeat over ImageNet for 800 to 1600 epochs without touching a label.</a:t>
            </a:r>
            <a:endParaRPr lang="en-US" sz="14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17</a:t>
            </a:r>
            <a:endParaRPr lang="en-US" sz="9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4278809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Pretraining, then fine-tuning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7733"/>
            <a:ext cx="470306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· 1.28 million ImageNet images · labels not used · 800 to 1600 epochs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80752" y="2488853"/>
            <a:ext cx="85769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masked</a:t>
            </a:r>
            <a:endParaRPr lang="en-US" sz="938" dirty="0"/>
          </a:p>
        </p:txBody>
      </p:sp>
      <p:sp>
        <p:nvSpPr>
          <p:cNvPr id="5" name="Text 3"/>
          <p:cNvSpPr txBox="1"/>
          <p:nvPr/>
        </p:nvSpPr>
        <p:spPr>
          <a:xfrm>
            <a:off x="2732770" y="1696283"/>
            <a:ext cx="87811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</a:t>
            </a:r>
            <a:endParaRPr lang="en-US" sz="1575" dirty="0"/>
          </a:p>
        </p:txBody>
      </p:sp>
      <p:sp>
        <p:nvSpPr>
          <p:cNvPr id="6" name="Text 4"/>
          <p:cNvSpPr txBox="1"/>
          <p:nvPr/>
        </p:nvSpPr>
        <p:spPr>
          <a:xfrm>
            <a:off x="2838051" y="1981914"/>
            <a:ext cx="66754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ViT</a:t>
            </a:r>
            <a:endParaRPr lang="en-US" sz="1013" dirty="0"/>
          </a:p>
        </p:txBody>
      </p:sp>
      <p:sp>
        <p:nvSpPr>
          <p:cNvPr id="7" name="Text 5"/>
          <p:cNvSpPr txBox="1"/>
          <p:nvPr/>
        </p:nvSpPr>
        <p:spPr>
          <a:xfrm>
            <a:off x="4682186" y="1696283"/>
            <a:ext cx="884378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C4503E">
                    <a:alpha val="30000"/>
                  </a:srgbClr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decoder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4812536" y="1981914"/>
            <a:ext cx="62382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blocks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6455307" y="2488853"/>
            <a:ext cx="67188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</a:t>
            </a:r>
            <a:endParaRPr lang="en-US" sz="938" dirty="0"/>
          </a:p>
        </p:txBody>
      </p:sp>
      <p:sp>
        <p:nvSpPr>
          <p:cNvPr id="10" name="Text 8"/>
          <p:cNvSpPr txBox="1"/>
          <p:nvPr/>
        </p:nvSpPr>
        <p:spPr>
          <a:xfrm>
            <a:off x="7467600" y="1560641"/>
            <a:ext cx="2056924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error against the original,</a:t>
            </a:r>
            <a:br/>
            <a:pPr algn="l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patches only</a:t>
            </a:r>
            <a:endParaRPr lang="en-US" sz="1013" dirty="0"/>
          </a:p>
        </p:txBody>
      </p:sp>
      <p:sp>
        <p:nvSpPr>
          <p:cNvPr id="11" name="Text 9"/>
          <p:cNvSpPr txBox="1"/>
          <p:nvPr/>
        </p:nvSpPr>
        <p:spPr>
          <a:xfrm>
            <a:off x="4766090" y="2341691"/>
            <a:ext cx="716572" cy="1800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C450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discarded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2477845" y="2475041"/>
            <a:ext cx="1387959" cy="1800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kept, with its weights</a:t>
            </a:r>
            <a:endParaRPr lang="en-US" sz="1013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2250" dirty="0"/>
          </a:p>
        </p:txBody>
      </p:sp>
      <p:sp>
        <p:nvSpPr>
          <p:cNvPr id="14" name="Text 12"/>
          <p:cNvSpPr txBox="1"/>
          <p:nvPr/>
        </p:nvSpPr>
        <p:spPr>
          <a:xfrm>
            <a:off x="1181100" y="4465862"/>
            <a:ext cx="7279243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Afterwards the decoder is thrown away. The encoder is kept, with everything it learned.</a:t>
            </a:r>
            <a:endParaRPr lang="en-US" sz="1425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17</a:t>
            </a:r>
            <a:endParaRPr lang="en-US" sz="9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4278809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Pretraining, then fine-tuning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7733"/>
            <a:ext cx="470306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· 1.28 million ImageNet images · labels not used · 800 to 1600 epochs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80752" y="2488853"/>
            <a:ext cx="85769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masked</a:t>
            </a:r>
            <a:endParaRPr lang="en-US" sz="938" dirty="0"/>
          </a:p>
        </p:txBody>
      </p:sp>
      <p:sp>
        <p:nvSpPr>
          <p:cNvPr id="5" name="Text 3"/>
          <p:cNvSpPr txBox="1"/>
          <p:nvPr/>
        </p:nvSpPr>
        <p:spPr>
          <a:xfrm>
            <a:off x="2732770" y="1696283"/>
            <a:ext cx="87811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</a:t>
            </a:r>
            <a:endParaRPr lang="en-US" sz="1575" dirty="0"/>
          </a:p>
        </p:txBody>
      </p:sp>
      <p:sp>
        <p:nvSpPr>
          <p:cNvPr id="6" name="Text 4"/>
          <p:cNvSpPr txBox="1"/>
          <p:nvPr/>
        </p:nvSpPr>
        <p:spPr>
          <a:xfrm>
            <a:off x="2838051" y="1981914"/>
            <a:ext cx="66754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ViT</a:t>
            </a:r>
            <a:endParaRPr lang="en-US" sz="1013" dirty="0"/>
          </a:p>
        </p:txBody>
      </p:sp>
      <p:sp>
        <p:nvSpPr>
          <p:cNvPr id="7" name="Text 5"/>
          <p:cNvSpPr txBox="1"/>
          <p:nvPr/>
        </p:nvSpPr>
        <p:spPr>
          <a:xfrm>
            <a:off x="4682186" y="1696283"/>
            <a:ext cx="884378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C4503E">
                    <a:alpha val="30000"/>
                  </a:srgbClr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decoder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4812536" y="1981914"/>
            <a:ext cx="62382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blocks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6455307" y="2488853"/>
            <a:ext cx="67188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</a:t>
            </a:r>
            <a:endParaRPr lang="en-US" sz="938" dirty="0"/>
          </a:p>
        </p:txBody>
      </p:sp>
      <p:sp>
        <p:nvSpPr>
          <p:cNvPr id="10" name="Text 8"/>
          <p:cNvSpPr txBox="1"/>
          <p:nvPr/>
        </p:nvSpPr>
        <p:spPr>
          <a:xfrm>
            <a:off x="7467600" y="1560641"/>
            <a:ext cx="2056924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error against the original,</a:t>
            </a:r>
            <a:br/>
            <a:pPr algn="l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patches only</a:t>
            </a:r>
            <a:endParaRPr lang="en-US" sz="1013" dirty="0"/>
          </a:p>
        </p:txBody>
      </p:sp>
      <p:sp>
        <p:nvSpPr>
          <p:cNvPr id="11" name="Text 9"/>
          <p:cNvSpPr txBox="1"/>
          <p:nvPr/>
        </p:nvSpPr>
        <p:spPr>
          <a:xfrm>
            <a:off x="4766090" y="2341691"/>
            <a:ext cx="716572" cy="1800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C450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discarded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2477845" y="2475041"/>
            <a:ext cx="1387959" cy="1800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kept, with its weights</a:t>
            </a:r>
            <a:endParaRPr lang="en-US" sz="1013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824133"/>
            <a:ext cx="3693581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· the same images, now with their labels · 50 epochs</a:t>
            </a:r>
            <a:endParaRPr lang="en-US" sz="975" dirty="0"/>
          </a:p>
        </p:txBody>
      </p:sp>
      <p:sp>
        <p:nvSpPr>
          <p:cNvPr id="14" name="Text 12"/>
          <p:cNvSpPr txBox="1"/>
          <p:nvPr/>
        </p:nvSpPr>
        <p:spPr>
          <a:xfrm>
            <a:off x="877348" y="4165253"/>
            <a:ext cx="66465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image</a:t>
            </a:r>
            <a:endParaRPr lang="en-US" sz="938" dirty="0"/>
          </a:p>
        </p:txBody>
      </p:sp>
      <p:sp>
        <p:nvSpPr>
          <p:cNvPr id="15" name="Text 13"/>
          <p:cNvSpPr txBox="1"/>
          <p:nvPr/>
        </p:nvSpPr>
        <p:spPr>
          <a:xfrm>
            <a:off x="2732770" y="3285917"/>
            <a:ext cx="87811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2342513" y="3571548"/>
            <a:ext cx="1658475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weights, updated a</a:t>
            </a:r>
            <a:br/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</a:t>
            </a:r>
            <a:endParaRPr lang="en-US" sz="1013" dirty="0"/>
          </a:p>
        </p:txBody>
      </p:sp>
      <p:sp>
        <p:nvSpPr>
          <p:cNvPr id="17" name="Text 15"/>
          <p:cNvSpPr txBox="1"/>
          <p:nvPr/>
        </p:nvSpPr>
        <p:spPr>
          <a:xfrm>
            <a:off x="4782800" y="3314492"/>
            <a:ext cx="6833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average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80918" y="3542973"/>
            <a:ext cx="1087064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 tokens → 1</a:t>
            </a:r>
            <a:br/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6605284" y="3389828"/>
            <a:ext cx="1038683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linear layer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33666" y="3639264"/>
            <a:ext cx="1781919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1024 → 1000 classes, new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553450" y="3398490"/>
            <a:ext cx="1781413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label: "electric locomotive"</a:t>
            </a:r>
            <a:br/>
            <a:pPr algn="l" indent="0" marL="0">
              <a:lnSpc>
                <a:spcPts val="1575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cross-entropy loss</a:t>
            </a:r>
            <a:endParaRPr lang="en-US" sz="112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181100" y="4465862"/>
            <a:ext cx="10778228" cy="825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Fine-tuning. The same images, now with their labels. A full image goes through the encoder, the 196 output tokens are averaged,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new linear layer maps that vector to the 1000 classes. Everything is trained with the classification loss: the new layer from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scratch, the encoder only nudged. 50 epochs are enough.</a:t>
            </a:r>
            <a:endParaRPr lang="en-US" sz="142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17</a:t>
            </a:r>
            <a:endParaRPr lang="en-US" sz="938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4278809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Pretraining, then fine-tuning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7733"/>
            <a:ext cx="4703064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· 1.28 million ImageNet images · labels not used · 800 to 1600 epochs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80752" y="2488853"/>
            <a:ext cx="85769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masked</a:t>
            </a:r>
            <a:endParaRPr lang="en-US" sz="938" dirty="0"/>
          </a:p>
        </p:txBody>
      </p:sp>
      <p:sp>
        <p:nvSpPr>
          <p:cNvPr id="5" name="Text 3"/>
          <p:cNvSpPr txBox="1"/>
          <p:nvPr/>
        </p:nvSpPr>
        <p:spPr>
          <a:xfrm>
            <a:off x="2732770" y="1696283"/>
            <a:ext cx="87811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</a:t>
            </a:r>
            <a:endParaRPr lang="en-US" sz="1575" dirty="0"/>
          </a:p>
        </p:txBody>
      </p:sp>
      <p:sp>
        <p:nvSpPr>
          <p:cNvPr id="6" name="Text 4"/>
          <p:cNvSpPr txBox="1"/>
          <p:nvPr/>
        </p:nvSpPr>
        <p:spPr>
          <a:xfrm>
            <a:off x="2838051" y="1981914"/>
            <a:ext cx="66754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ViT</a:t>
            </a:r>
            <a:endParaRPr lang="en-US" sz="1013" dirty="0"/>
          </a:p>
        </p:txBody>
      </p:sp>
      <p:sp>
        <p:nvSpPr>
          <p:cNvPr id="7" name="Text 5"/>
          <p:cNvSpPr txBox="1"/>
          <p:nvPr/>
        </p:nvSpPr>
        <p:spPr>
          <a:xfrm>
            <a:off x="4682186" y="1696283"/>
            <a:ext cx="884378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C4503E">
                    <a:alpha val="30000"/>
                  </a:srgbClr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decoder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4812536" y="1981914"/>
            <a:ext cx="62382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blocks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6455307" y="2488853"/>
            <a:ext cx="67188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</a:t>
            </a:r>
            <a:endParaRPr lang="en-US" sz="938" dirty="0"/>
          </a:p>
        </p:txBody>
      </p:sp>
      <p:sp>
        <p:nvSpPr>
          <p:cNvPr id="10" name="Text 8"/>
          <p:cNvSpPr txBox="1"/>
          <p:nvPr/>
        </p:nvSpPr>
        <p:spPr>
          <a:xfrm>
            <a:off x="7467600" y="1560641"/>
            <a:ext cx="2056924" cy="360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error against the original,</a:t>
            </a:r>
            <a:br/>
            <a:pPr algn="l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patches only</a:t>
            </a:r>
            <a:endParaRPr lang="en-US" sz="1013" dirty="0"/>
          </a:p>
        </p:txBody>
      </p:sp>
      <p:sp>
        <p:nvSpPr>
          <p:cNvPr id="11" name="Text 9"/>
          <p:cNvSpPr txBox="1"/>
          <p:nvPr/>
        </p:nvSpPr>
        <p:spPr>
          <a:xfrm>
            <a:off x="4766090" y="2341691"/>
            <a:ext cx="716572" cy="1800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C450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discarded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2477845" y="2475041"/>
            <a:ext cx="1387959" cy="1800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17"/>
              </a:lnSpc>
              <a:buNone/>
            </a:pPr>
            <a:r>
              <a:rPr lang="en-US" sz="1013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kept, with its weights</a:t>
            </a:r>
            <a:endParaRPr lang="en-US" sz="1013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824133"/>
            <a:ext cx="3693581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· the same images, now with their labels · 50 epochs</a:t>
            </a:r>
            <a:endParaRPr lang="en-US" sz="975" dirty="0"/>
          </a:p>
        </p:txBody>
      </p:sp>
      <p:sp>
        <p:nvSpPr>
          <p:cNvPr id="14" name="Text 12"/>
          <p:cNvSpPr txBox="1"/>
          <p:nvPr/>
        </p:nvSpPr>
        <p:spPr>
          <a:xfrm>
            <a:off x="877348" y="4165253"/>
            <a:ext cx="66465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image</a:t>
            </a:r>
            <a:endParaRPr lang="en-US" sz="938" dirty="0"/>
          </a:p>
        </p:txBody>
      </p:sp>
      <p:sp>
        <p:nvSpPr>
          <p:cNvPr id="15" name="Text 13"/>
          <p:cNvSpPr txBox="1"/>
          <p:nvPr/>
        </p:nvSpPr>
        <p:spPr>
          <a:xfrm>
            <a:off x="2732770" y="3285917"/>
            <a:ext cx="87811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encoder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2342513" y="3571548"/>
            <a:ext cx="1658475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weights, updated a</a:t>
            </a:r>
            <a:br/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</a:t>
            </a:r>
            <a:endParaRPr lang="en-US" sz="1013" dirty="0"/>
          </a:p>
        </p:txBody>
      </p:sp>
      <p:sp>
        <p:nvSpPr>
          <p:cNvPr id="17" name="Text 15"/>
          <p:cNvSpPr txBox="1"/>
          <p:nvPr/>
        </p:nvSpPr>
        <p:spPr>
          <a:xfrm>
            <a:off x="4782800" y="3314492"/>
            <a:ext cx="6833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average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80918" y="3542973"/>
            <a:ext cx="1087064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 tokens → 1</a:t>
            </a:r>
            <a:br/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6605284" y="3389828"/>
            <a:ext cx="1038683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linear layer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33666" y="3639264"/>
            <a:ext cx="1781919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1024 → 1000 classes, new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553450" y="3398490"/>
            <a:ext cx="1781413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label: "electric locomotive"</a:t>
            </a:r>
            <a:br/>
            <a:pPr algn="l" indent="0" marL="0">
              <a:lnSpc>
                <a:spcPts val="1575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cross-entropy loss</a:t>
            </a:r>
            <a:endParaRPr lang="en-US" sz="1125" dirty="0"/>
          </a:p>
        </p:txBody>
      </p:sp>
      <p:sp>
        <p:nvSpPr>
          <p:cNvPr id="22" name="Text 20"/>
          <p:cNvSpPr txBox="1"/>
          <p:nvPr/>
        </p:nvSpPr>
        <p:spPr>
          <a:xfrm>
            <a:off x="9372600" y="1236672"/>
            <a:ext cx="2086023" cy="597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13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weights are trained</a:t>
            </a:r>
            <a:br/>
            <a:pPr algn="l" indent="0" marL="0">
              <a:lnSpc>
                <a:spcPts val="1569"/>
              </a:lnSpc>
              <a:buNone/>
            </a:pPr>
            <a:r>
              <a:rPr lang="en-US" sz="1013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probing</a:t>
            </a:r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encoder frozen,</a:t>
            </a:r>
            <a:br/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linear layer is trained</a:t>
            </a:r>
            <a:endParaRPr lang="en-US" sz="1013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389090"/>
            <a:ext cx="2057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1181100" y="4465862"/>
            <a:ext cx="10320540" cy="825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evaluate, used throughout the paper. Fine-tuning trains everything: 84.9 percent for the large ViT, against 82.5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from scratch for 200 epochs. Linear probing freezes the encoder and trains only the linear layer, so it measures how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linearly separable the frozen features are.</a:t>
            </a:r>
            <a:endParaRPr lang="en-US" sz="1425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17</a:t>
            </a:r>
            <a:endParaRPr lang="en-US" sz="938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111097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Masking ratio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538752"/>
            <a:ext cx="5707130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ViT on ImageNet, 800 pretraining epochs per point, top-1 accuracy. Figure 5 in the paper.</a:t>
            </a:r>
            <a:endParaRPr lang="en-US" sz="1013" dirty="0"/>
          </a:p>
        </p:txBody>
      </p:sp>
      <p:sp>
        <p:nvSpPr>
          <p:cNvPr id="4" name="Text 2"/>
          <p:cNvSpPr txBox="1"/>
          <p:nvPr/>
        </p:nvSpPr>
        <p:spPr>
          <a:xfrm>
            <a:off x="7543800" y="1141637"/>
            <a:ext cx="4095702" cy="1375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point is a separate pretraining run with that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ratio, then measured two ways. Fine-tuning: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from 40 to 80 percent works, and every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is above the 82.5 percent of the same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trained from scratch.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7543800" y="2669209"/>
            <a:ext cx="4148173" cy="110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probing keeps improving up to 75 percent,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almost twenty points between the two ends.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 uses 15 percent. Earlier masked image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used 20 to 50.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9677400" y="5145078"/>
            <a:ext cx="1886045" cy="9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trained at 75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percent, tested with 75, 85 and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percent hidden. With nine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patches it still draws a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bus. Figure 4.</a:t>
            </a:r>
            <a:endParaRPr lang="en-US" sz="1013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491288"/>
            <a:ext cx="36702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17</a:t>
            </a:r>
            <a:endParaRPr lang="en-US" sz="938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4823174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Decoder depth and mask tokens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7733"/>
            <a:ext cx="4486525" cy="50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3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 depth in Transformer blocks, Table 1a. Both bars</a:t>
            </a:r>
            <a:br/>
            <a:pPr algn="l" indent="0" marL="0">
              <a:lnSpc>
                <a:spcPts val="1995"/>
              </a:lnSpc>
              <a:buNone/>
            </a:pPr>
            <a:r>
              <a:rPr lang="en-US" sz="13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same axis.</a:t>
            </a:r>
            <a:endParaRPr lang="en-US" sz="1313" dirty="0"/>
          </a:p>
        </p:txBody>
      </p:sp>
      <p:sp>
        <p:nvSpPr>
          <p:cNvPr id="4" name="Text 2"/>
          <p:cNvSpPr txBox="1"/>
          <p:nvPr/>
        </p:nvSpPr>
        <p:spPr>
          <a:xfrm>
            <a:off x="1323975" y="2544872"/>
            <a:ext cx="4732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84.9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827" y="3968919"/>
            <a:ext cx="65863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975" dirty="0"/>
          </a:p>
        </p:txBody>
      </p:sp>
      <p:sp>
        <p:nvSpPr>
          <p:cNvPr id="6" name="Text 4"/>
          <p:cNvSpPr txBox="1"/>
          <p:nvPr/>
        </p:nvSpPr>
        <p:spPr>
          <a:xfrm>
            <a:off x="2638425" y="3004602"/>
            <a:ext cx="4732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73.5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463254" y="3968919"/>
            <a:ext cx="837557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probing</a:t>
            </a:r>
            <a:endParaRPr lang="en-US" sz="975" dirty="0"/>
          </a:p>
        </p:txBody>
      </p:sp>
      <p:sp>
        <p:nvSpPr>
          <p:cNvPr id="8" name="Text 6"/>
          <p:cNvSpPr txBox="1"/>
          <p:nvPr/>
        </p:nvSpPr>
        <p:spPr>
          <a:xfrm>
            <a:off x="758577" y="3788896"/>
            <a:ext cx="18948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58577" y="3386167"/>
            <a:ext cx="18948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58577" y="2982099"/>
            <a:ext cx="18948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58577" y="2579221"/>
            <a:ext cx="189488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207163"/>
            <a:ext cx="4339019" cy="372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blocks, the default: 9 percent of ViT-L FLOPs per token, best linear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probing.</a:t>
            </a:r>
            <a:endParaRPr lang="en-US" sz="1013" dirty="0"/>
          </a:p>
        </p:txBody>
      </p:sp>
      <p:sp>
        <p:nvSpPr>
          <p:cNvPr id="13" name="Text 11"/>
          <p:cNvSpPr txBox="1"/>
          <p:nvPr/>
        </p:nvSpPr>
        <p:spPr>
          <a:xfrm>
            <a:off x="5543550" y="1141637"/>
            <a:ext cx="5941314" cy="110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 depth matters for linear probing and barely for fine-tuning. A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deeper decoder takes over the reconstruction-specific layers, so the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output stays more abstract. With fine-tuning the encoder's last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adapt anyway.</a:t>
            </a:r>
            <a:endParaRPr lang="en-US" sz="1425" dirty="0"/>
          </a:p>
        </p:txBody>
      </p:sp>
      <p:sp>
        <p:nvSpPr>
          <p:cNvPr id="14" name="Text 12"/>
          <p:cNvSpPr txBox="1"/>
          <p:nvPr/>
        </p:nvSpPr>
        <p:spPr>
          <a:xfrm>
            <a:off x="5543550" y="2394174"/>
            <a:ext cx="6251341" cy="110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mask tokens are kept in the encoder instead of being dropped, linear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probing falls by 14 points, because the encoder then trains on inputs full of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placeholders it never sees at test time. It also costs 3.3 times the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compute.</a:t>
            </a:r>
            <a:endParaRPr lang="en-US" sz="1425" dirty="0"/>
          </a:p>
        </p:txBody>
      </p:sp>
      <p:sp>
        <p:nvSpPr>
          <p:cNvPr id="15" name="Text 13"/>
          <p:cNvSpPr txBox="1"/>
          <p:nvPr/>
        </p:nvSpPr>
        <p:spPr>
          <a:xfrm>
            <a:off x="5543550" y="3709005"/>
            <a:ext cx="558332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345537" y="3709005"/>
            <a:ext cx="990017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 blocks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375874" y="3709005"/>
            <a:ext cx="889873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acc.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309920" y="3709005"/>
            <a:ext cx="40417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776942" y="3709005"/>
            <a:ext cx="589288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543550" y="3988088"/>
            <a:ext cx="283253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Large, mask tokens kept in the encoder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345537" y="3988088"/>
            <a:ext cx="1453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75874" y="39880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309920" y="39880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776942" y="3988088"/>
            <a:ext cx="1453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43550" y="4302413"/>
            <a:ext cx="48883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345537" y="4302413"/>
            <a:ext cx="1453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375874" y="43024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309920" y="43024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776942" y="4302413"/>
            <a:ext cx="3701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2.8×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543550" y="4616738"/>
            <a:ext cx="46252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45537" y="4616738"/>
            <a:ext cx="1453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75874" y="46167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84.8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309920" y="46167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76942" y="4616738"/>
            <a:ext cx="3701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3.7×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543550" y="4931063"/>
            <a:ext cx="43605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345537" y="4931063"/>
            <a:ext cx="1453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375874" y="49310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85.8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309920" y="49310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776942" y="4931063"/>
            <a:ext cx="3701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3.5×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543550" y="5245388"/>
            <a:ext cx="43605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345537" y="5245388"/>
            <a:ext cx="1453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375874" y="52453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85.9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309920" y="52453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29.3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776942" y="5245388"/>
            <a:ext cx="37011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4.1×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543550" y="5596027"/>
            <a:ext cx="5716881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time for 800 epochs on the same hardware. Large and Huge are the ViT sizes. Table 2.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6491288"/>
            <a:ext cx="43590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938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584457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Mask sampling and data augmentation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233702"/>
            <a:ext cx="815423" cy="372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75%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 · 73.5</a:t>
            </a:r>
            <a:endParaRPr lang="en-US" sz="1013" dirty="0"/>
          </a:p>
        </p:txBody>
      </p:sp>
      <p:sp>
        <p:nvSpPr>
          <p:cNvPr id="4" name="Text 2"/>
          <p:cNvSpPr txBox="1"/>
          <p:nvPr/>
        </p:nvSpPr>
        <p:spPr>
          <a:xfrm>
            <a:off x="2876550" y="2233702"/>
            <a:ext cx="696551" cy="372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50%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83.9 · 72.3</a:t>
            </a:r>
            <a:endParaRPr lang="en-US" sz="1013" dirty="0"/>
          </a:p>
        </p:txBody>
      </p:sp>
      <p:sp>
        <p:nvSpPr>
          <p:cNvPr id="5" name="Text 3"/>
          <p:cNvSpPr txBox="1"/>
          <p:nvPr/>
        </p:nvSpPr>
        <p:spPr>
          <a:xfrm>
            <a:off x="5067300" y="2233702"/>
            <a:ext cx="696551" cy="372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75%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84.0 · 66.0</a:t>
            </a:r>
            <a:endParaRPr lang="en-US" sz="1013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4017"/>
            <a:ext cx="5867948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6 and Table 1f, numbers are fine-tuning · linear probing. Block masking at 75%: 82.8 · 63.9.</a:t>
            </a:r>
            <a:endParaRPr lang="en-US" sz="1013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86535"/>
            <a:ext cx="6961632" cy="1375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masking removes large regions. The task gets harder, the loss higher, the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blurrier, and at 75 percent it breaks down. Grid masking keeps one patch in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four, which is easy: sharp reconstructions, worse features. Random sampling is the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that tolerates a high ratio, and the high ratio is where the speed comes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from.</a:t>
            </a:r>
            <a:endParaRPr lang="en-US" sz="1425" dirty="0"/>
          </a:p>
        </p:txBody>
      </p:sp>
      <p:sp>
        <p:nvSpPr>
          <p:cNvPr id="8" name="Text 6"/>
          <p:cNvSpPr txBox="1"/>
          <p:nvPr/>
        </p:nvSpPr>
        <p:spPr>
          <a:xfrm>
            <a:off x="7734300" y="1261080"/>
            <a:ext cx="897612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augmentation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375725" y="1261080"/>
            <a:ext cx="70491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131921" y="1261080"/>
            <a:ext cx="897612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probing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34300" y="1540163"/>
            <a:ext cx="162554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none, center crop only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75725" y="15401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31921" y="15401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65.7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34300" y="1854488"/>
            <a:ext cx="1114306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crop, fixed size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75725" y="18544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31921" y="18544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34300" y="2168813"/>
            <a:ext cx="141349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crop, random size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75725" y="21688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31921" y="21688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34300" y="2483138"/>
            <a:ext cx="123317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+ color jitter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375725" y="24831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31921" y="24831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34300" y="2833777"/>
            <a:ext cx="599968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1e.</a:t>
            </a:r>
            <a:endParaRPr lang="en-US" sz="1013" dirty="0"/>
          </a:p>
        </p:txBody>
      </p:sp>
      <p:sp>
        <p:nvSpPr>
          <p:cNvPr id="24" name="Text 22"/>
          <p:cNvSpPr txBox="1"/>
          <p:nvPr/>
        </p:nvSpPr>
        <p:spPr>
          <a:xfrm>
            <a:off x="7734300" y="3166295"/>
            <a:ext cx="3907488" cy="2475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barely needs augmentation. With no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augmentation at all it loses less than a point in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fine-tuning. Contrastive methods depend on it: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SimCLR loses 28 points with cropping only,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with no augmentation its two views are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and there is nothing to learn. In MAE,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random mask every iteration already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a new training sample from the same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image.</a:t>
            </a:r>
            <a:endParaRPr lang="en-US" sz="1425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491288"/>
            <a:ext cx="43590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938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5057823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What should the decoder predict?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1637"/>
            <a:ext cx="6156150" cy="1925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simplest choice is the pixels themselves, and that is what MAE does.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alternative, used by BEiT, a masked image method published a few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earlier, is to predict a code instead of pixels. A separate network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maps every patch to one of 8192 codes, a kind of visual vocabulary.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then guesses the code of each hidden patch, the way BERT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guesses a word. The argument was that codes are more meaningful than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pixels.</a:t>
            </a:r>
            <a:endParaRPr lang="en-US" sz="14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219277"/>
            <a:ext cx="6124885" cy="110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MAE, codes turn out slightly better than raw pixels, no better than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normalized pixels, and worse for linear probing. Predicting a compressed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of the patch is worse than predicting the full patch, so the fine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is useful too.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471815"/>
            <a:ext cx="6020717" cy="55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network also has to be pretrained on 250 million extra images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adds 40 percent to training compute. Pixels are enough.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7124700" y="1337280"/>
            <a:ext cx="164536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decoder predicts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0036522" y="1261080"/>
            <a:ext cx="43512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697617" y="1261080"/>
            <a:ext cx="519791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probing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124700" y="1692563"/>
            <a:ext cx="76186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pixels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36522" y="16925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697617" y="16925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24700" y="2006888"/>
            <a:ext cx="218864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pixels, normalized per patch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36522" y="20068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697617" y="20068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24700" y="2321213"/>
            <a:ext cx="294676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patch (96 PCA components)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36522" y="23212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697617" y="23212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24700" y="2635538"/>
            <a:ext cx="173977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codes, as in BEiT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36522" y="26355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97617" y="26355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24700" y="2986177"/>
            <a:ext cx="4401705" cy="372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1d. Normalizing per patch means subtracting the patch's own mean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dividing by its standard deviation before comparing.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491288"/>
            <a:ext cx="43590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938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1119568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Scaling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4100602"/>
            <a:ext cx="4660963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ImageNet accuracy after fine-tuning, for three ViT sizes. Figure 8 in the paper.</a:t>
            </a:r>
            <a:endParaRPr lang="en-US" sz="1013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4100602"/>
            <a:ext cx="5590270" cy="372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of the large ViT against how long it was pretrained. Each point is a separate full run.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7.</a:t>
            </a:r>
            <a:endParaRPr lang="en-US" sz="1013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52802"/>
            <a:ext cx="11122771" cy="1375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with labels on ImageNet, a bigger ViT does not get better. Pretrained with MAE it does, and the gain per step in size matches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Google got from 300 million labeled images. The largest model, fine-tuned at higher resolution, reaches 87.8 percent, the best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at the time with no data outside ImageNet. Longer pretraining also keeps helping, with no flattening at 1600 epochs, where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contrastive methods on ViT stop improving around 300. Since the encoder only sees a quarter of one image per step, 1600 MAE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 still take less time than 300 contrastive ones.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491288"/>
            <a:ext cx="43590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938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274802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Partial fine-tuning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7733"/>
            <a:ext cx="5479137" cy="50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3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blocks fine-tuned, counted from the top of the large ViT. 0 is</a:t>
            </a:r>
            <a:br/>
            <a:pPr algn="l" indent="0" marL="0">
              <a:lnSpc>
                <a:spcPts val="1995"/>
              </a:lnSpc>
              <a:buNone/>
            </a:pPr>
            <a:r>
              <a:rPr lang="en-US" sz="13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probing, 24 is full fine-tuning.</a:t>
            </a:r>
            <a:endParaRPr lang="en-US" sz="1313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06744"/>
            <a:ext cx="255562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blocks tuned · linear probing, all 24 frozen</a:t>
            </a:r>
            <a:endParaRPr lang="en-US" sz="9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368719"/>
            <a:ext cx="336221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9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09689"/>
            <a:ext cx="57721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73.5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509712" y="2368719"/>
            <a:ext cx="13167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contrastive (MoCo v3)</a:t>
            </a:r>
            <a:endParaRPr lang="en-US" sz="975" dirty="0"/>
          </a:p>
        </p:txBody>
      </p:sp>
      <p:sp>
        <p:nvSpPr>
          <p:cNvPr id="8" name="Text 6"/>
          <p:cNvSpPr txBox="1"/>
          <p:nvPr/>
        </p:nvSpPr>
        <p:spPr>
          <a:xfrm>
            <a:off x="1509712" y="2509689"/>
            <a:ext cx="57721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77.6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3044726" y="2368719"/>
            <a:ext cx="62039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</a:t>
            </a:r>
            <a:endParaRPr lang="en-US" sz="975" dirty="0"/>
          </a:p>
        </p:txBody>
      </p:sp>
      <p:sp>
        <p:nvSpPr>
          <p:cNvPr id="10" name="Text 8"/>
          <p:cNvSpPr txBox="1"/>
          <p:nvPr/>
        </p:nvSpPr>
        <p:spPr>
          <a:xfrm>
            <a:off x="3044726" y="2509689"/>
            <a:ext cx="57721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C4503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−4.1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959269"/>
            <a:ext cx="2312003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block tuned · the last block, in salmon</a:t>
            </a:r>
            <a:endParaRPr lang="en-US" sz="9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21244"/>
            <a:ext cx="336221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97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662214"/>
            <a:ext cx="57721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81.0</a:t>
            </a:r>
            <a:endParaRPr lang="en-US" sz="2250" dirty="0"/>
          </a:p>
        </p:txBody>
      </p:sp>
      <p:sp>
        <p:nvSpPr>
          <p:cNvPr id="14" name="Text 12"/>
          <p:cNvSpPr txBox="1"/>
          <p:nvPr/>
        </p:nvSpPr>
        <p:spPr>
          <a:xfrm>
            <a:off x="1509712" y="3521244"/>
            <a:ext cx="1316760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contrastive (MoCo v3)</a:t>
            </a:r>
            <a:endParaRPr lang="en-US" sz="975" dirty="0"/>
          </a:p>
        </p:txBody>
      </p:sp>
      <p:sp>
        <p:nvSpPr>
          <p:cNvPr id="15" name="Text 13"/>
          <p:cNvSpPr txBox="1"/>
          <p:nvPr/>
        </p:nvSpPr>
        <p:spPr>
          <a:xfrm>
            <a:off x="1509712" y="3662214"/>
            <a:ext cx="57721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79.9</a:t>
            </a:r>
            <a:endParaRPr lang="en-US" sz="2250" dirty="0"/>
          </a:p>
        </p:txBody>
      </p:sp>
      <p:sp>
        <p:nvSpPr>
          <p:cNvPr id="16" name="Text 14"/>
          <p:cNvSpPr txBox="1"/>
          <p:nvPr/>
        </p:nvSpPr>
        <p:spPr>
          <a:xfrm>
            <a:off x="3044726" y="3521244"/>
            <a:ext cx="620399" cy="148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</a:t>
            </a:r>
            <a:endParaRPr lang="en-US" sz="975" dirty="0"/>
          </a:p>
        </p:txBody>
      </p:sp>
      <p:sp>
        <p:nvSpPr>
          <p:cNvPr id="17" name="Text 15"/>
          <p:cNvSpPr txBox="1"/>
          <p:nvPr/>
        </p:nvSpPr>
        <p:spPr>
          <a:xfrm>
            <a:off x="3044726" y="3662214"/>
            <a:ext cx="57721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177E7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+1.1</a:t>
            </a:r>
            <a:endParaRPr lang="en-US" sz="22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788313"/>
            <a:ext cx="584954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9.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141637"/>
            <a:ext cx="5340763" cy="16504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comparison is with MoCo v3, a contrastive method from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family as SimCLR, trained on the same ViT. With the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frozen, its features are four points better. Tune a single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and MAE goes from 73.5 to 81.0 and stays ahead from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on. Tuning just the feed-forward half of the last block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gives 79.1.</a:t>
            </a:r>
            <a:endParaRPr lang="en-US" sz="1425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944243"/>
            <a:ext cx="5360884" cy="16504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MAE features are there, they are just not arranged so a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linear layer can separate them. The authors argue that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probing, the usual test in contrastive work, misses exactly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this, and suggest tuning the last few blocks as a fairer middle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ground. In language modeling nobody evaluates with a frozen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anyway.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6491288"/>
            <a:ext cx="43590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938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3353217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Transfer to other tasks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37280"/>
            <a:ext cx="712494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2309813" y="1261080"/>
            <a:ext cx="1113222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detection, COCO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3458617" y="1413480"/>
            <a:ext cx="411909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33081" y="1261080"/>
            <a:ext cx="1491198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segmentation, ADE20K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45323" y="1413480"/>
            <a:ext cx="411909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692563"/>
            <a:ext cx="120253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ImageNet labels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09813" y="16925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47.9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58617" y="16925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933081" y="16925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45323" y="169256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49.9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006888"/>
            <a:ext cx="160743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contrastive (MoCo v3)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309813" y="20068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8617" y="20068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933081" y="20068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45323" y="200688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49.1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2321213"/>
            <a:ext cx="14224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codes (BEiT)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309813" y="23212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458617" y="23212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933081" y="23212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45323" y="2321213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2635538"/>
            <a:ext cx="40943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09813" y="26355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458617" y="26355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933081" y="26355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45323" y="2635538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7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2986177"/>
            <a:ext cx="6133398" cy="5593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is box AP, segmentation is mean IoU; higher is better for both. Base and Large are the ViT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sizes. Standard detection and segmentation heads, all methods fine-tuned the same way. Tables 4 and</a:t>
            </a:r>
            <a:br/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013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3829854"/>
            <a:ext cx="203835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MAE, after ImageNet fine-tuning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504158" y="3829854"/>
            <a:ext cx="373368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941564" y="3829854"/>
            <a:ext cx="411909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416028" y="3829854"/>
            <a:ext cx="388691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68168" y="3753654"/>
            <a:ext cx="69717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Huge, 448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px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716488" y="3753654"/>
            <a:ext cx="581394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</a:t>
            </a:r>
            <a:br/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4185136"/>
            <a:ext cx="272650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iNaturalist 2018, species classification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504158" y="418513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75.4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941564" y="418513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80.1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16028" y="418513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868168" y="418513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716488" y="418513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499461"/>
            <a:ext cx="284955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ImageNet-A, images that fool classifiers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504158" y="4499461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35.9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3941564" y="4499461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57.1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416028" y="4499461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68.2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868168" y="4499461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716488" y="4499461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85800" y="4813786"/>
            <a:ext cx="26121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ImageNet-R, paintings and sketches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504158" y="481378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48.3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3941564" y="481378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59.9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028" y="481378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64.4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4868168" y="481378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66.5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716488" y="4813786"/>
            <a:ext cx="365629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85800" y="5164425"/>
            <a:ext cx="5904940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8"/>
              </a:lnSpc>
              <a:buNone/>
            </a:pPr>
            <a:r>
              <a:rPr lang="en-US" sz="1013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two rows use the ImageNet-fine-tuned model as is, with no extra training. Tables 6 and 13.</a:t>
            </a:r>
            <a:endParaRPr lang="en-US" sz="1013" dirty="0"/>
          </a:p>
        </p:txBody>
      </p:sp>
      <p:sp>
        <p:nvSpPr>
          <p:cNvPr id="54" name="Text 52"/>
          <p:cNvSpPr txBox="1"/>
          <p:nvPr/>
        </p:nvSpPr>
        <p:spPr>
          <a:xfrm>
            <a:off x="7010400" y="1141637"/>
            <a:ext cx="4702754" cy="16504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ImageNet gain carry over to other tasks? Yes,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grows with model size. On detection, MAE is 2.4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above training with labels for the base model and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 for the large one. The contrastive method gives no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 at all here, even though it looked better under a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probe. Segmentation shows the same pattern.</a:t>
            </a:r>
            <a:endParaRPr lang="en-US" sz="1425" dirty="0"/>
          </a:p>
        </p:txBody>
      </p:sp>
      <p:sp>
        <p:nvSpPr>
          <p:cNvPr id="55" name="Text 53"/>
          <p:cNvSpPr txBox="1"/>
          <p:nvPr/>
        </p:nvSpPr>
        <p:spPr>
          <a:xfrm>
            <a:off x="7010400" y="2944243"/>
            <a:ext cx="4514231" cy="55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fine-grained species classification the huge model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beats the previous record by more than five points.</a:t>
            </a:r>
            <a:endParaRPr lang="en-US" sz="1425" dirty="0"/>
          </a:p>
        </p:txBody>
      </p:sp>
      <p:sp>
        <p:nvSpPr>
          <p:cNvPr id="56" name="Text 54"/>
          <p:cNvSpPr txBox="1"/>
          <p:nvPr/>
        </p:nvSpPr>
        <p:spPr>
          <a:xfrm>
            <a:off x="7010400" y="3646712"/>
            <a:ext cx="4597658" cy="825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robustness rows are the most striking. On the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set, the huge MAE model scores 68.2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same model trained with labels scores 33.1.</a:t>
            </a:r>
            <a:endParaRPr lang="en-US" sz="1425" dirty="0"/>
          </a:p>
        </p:txBody>
      </p:sp>
      <p:sp>
        <p:nvSpPr>
          <p:cNvPr id="57" name="Text 55"/>
          <p:cNvSpPr txBox="1"/>
          <p:nvPr/>
        </p:nvSpPr>
        <p:spPr>
          <a:xfrm>
            <a:off x="685800" y="6491288"/>
            <a:ext cx="43590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938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0540"/>
            <a:ext cx="1508689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55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Summary</a:t>
            </a:r>
            <a:endParaRPr lang="en-US" sz="25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41637"/>
            <a:ext cx="6177820" cy="825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MAE does: hide 75 percent of the patches, run only the visible ones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encoder, let a small decoder fill in the pixels, then throw the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 away and keep the encoder.</a:t>
            </a:r>
            <a:endParaRPr lang="en-US" sz="14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19140"/>
            <a:ext cx="5961590" cy="1375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it is simple and fast, it needs almost no augmentation,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gets better as the model gets bigger and trains longer, which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contrastive methods on ViT did not. With nothing but ImageNet, a huge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 reaches 87.8 percent, and the gains carry over to detection and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segmentation.</a:t>
            </a:r>
            <a:endParaRPr lang="en-US" sz="142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646712"/>
            <a:ext cx="5978461" cy="55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lesson: linear probing can mislead. MAE looks weak under a</a:t>
            </a:r>
            <a:br/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probe and strong as soon as a single block is tuned.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7124700" y="1207740"/>
            <a:ext cx="4524446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1875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patches we hide are not objects, and</a:t>
            </a:r>
            <a:br/>
            <a:pPr algn="l" indent="0" marL="0">
              <a:lnSpc>
                <a:spcPts val="2625"/>
              </a:lnSpc>
              <a:buNone/>
            </a:pPr>
            <a:r>
              <a:rPr lang="en-US" sz="1875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pixels we predict mean nothing on</a:t>
            </a:r>
            <a:br/>
            <a:pPr algn="l" indent="0" marL="0">
              <a:lnSpc>
                <a:spcPts val="2625"/>
              </a:lnSpc>
              <a:buNone/>
            </a:pPr>
            <a:r>
              <a:rPr lang="en-US" sz="1875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their own. The encoder still ends up</a:t>
            </a:r>
            <a:br/>
            <a:pPr algn="l" indent="0" marL="0">
              <a:lnSpc>
                <a:spcPts val="2625"/>
              </a:lnSpc>
              <a:buNone/>
            </a:pPr>
            <a:r>
              <a:rPr lang="en-US" sz="1875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understanding the image, because there</a:t>
            </a:r>
            <a:br/>
            <a:pPr algn="l" indent="0" marL="0">
              <a:lnSpc>
                <a:spcPts val="2625"/>
              </a:lnSpc>
              <a:buNone/>
            </a:pPr>
            <a:r>
              <a:rPr lang="en-US" sz="1875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is no other way to fill in three quarters of</a:t>
            </a:r>
            <a:br/>
            <a:pPr algn="l" indent="0" marL="0">
              <a:lnSpc>
                <a:spcPts val="2625"/>
              </a:lnSpc>
              <a:buNone/>
            </a:pPr>
            <a:r>
              <a:rPr lang="en-US" sz="1875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it.</a:t>
            </a:r>
            <a:endParaRPr lang="en-US" sz="1875" dirty="0"/>
          </a:p>
        </p:txBody>
      </p:sp>
      <p:sp>
        <p:nvSpPr>
          <p:cNvPr id="7" name="Text 5"/>
          <p:cNvSpPr txBox="1"/>
          <p:nvPr/>
        </p:nvSpPr>
        <p:spPr>
          <a:xfrm>
            <a:off x="7124700" y="3358961"/>
            <a:ext cx="3087148" cy="193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Paraphrasing the discussion section of the paper.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53300" y="3872805"/>
            <a:ext cx="6354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25%</a:t>
            </a:r>
            <a:endParaRPr lang="en-US" sz="1125" dirty="0"/>
          </a:p>
        </p:txBody>
      </p:sp>
      <p:sp>
        <p:nvSpPr>
          <p:cNvPr id="9" name="Text 7"/>
          <p:cNvSpPr txBox="1"/>
          <p:nvPr/>
        </p:nvSpPr>
        <p:spPr>
          <a:xfrm>
            <a:off x="8385572" y="3872805"/>
            <a:ext cx="67689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 75%</a:t>
            </a:r>
            <a:endParaRPr lang="en-US" sz="1125" dirty="0"/>
          </a:p>
        </p:txBody>
      </p:sp>
      <p:sp>
        <p:nvSpPr>
          <p:cNvPr id="10" name="Text 8"/>
          <p:cNvSpPr txBox="1"/>
          <p:nvPr/>
        </p:nvSpPr>
        <p:spPr>
          <a:xfrm>
            <a:off x="9457730" y="3872805"/>
            <a:ext cx="92438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pixels</a:t>
            </a:r>
            <a:endParaRPr lang="en-US" sz="112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91288"/>
            <a:ext cx="43590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938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37194"/>
            <a:ext cx="2500372" cy="554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>
                <a:solidFill>
                  <a:srgbClr val="1B273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Thank you</a:t>
            </a:r>
            <a:endParaRPr lang="en-US" sz="39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8379"/>
            <a:ext cx="2201954" cy="275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425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and discussion</a:t>
            </a:r>
            <a:endParaRPr lang="en-US" sz="14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742938"/>
            <a:ext cx="7372886" cy="386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He, Chen, Xie, Li, Dollár, Girshick. Masked Autoencoders Are Scalable Vision Learners. CVPR 2022. arXiv:2111.06377.</a:t>
            </a:r>
            <a:br/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and tables in this talk are from the paper.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Autoencoders Are Scalable Vision Learners</dc:title>
  <dc:subject>Converted from 2026-09-mae-masked-autoencoders.html</dc:subject>
  <dc:creator>PptxGenJS</dc:creator>
  <cp:lastModifiedBy>PptxGenJS</cp:lastModifiedBy>
  <cp:revision>1</cp:revision>
  <dcterms:created xsi:type="dcterms:W3CDTF">2026-10-05T22:07:22Z</dcterms:created>
  <dcterms:modified xsi:type="dcterms:W3CDTF">2026-10-05T22:07:22Z</dcterms:modified>
</cp:coreProperties>
</file>